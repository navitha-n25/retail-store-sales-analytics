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7" r:id="rId12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1D18A95-4AB6-462E-A750-F73F8178998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BE0BBDA-64EA-4661-924B-38F680C2C0C0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 panose="020B0604020202020204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cap="none" dirty="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  <a:latin typeface="Cambria" panose="02040503050406030204" charset="0"/>
                <a:cs typeface="Cambria" panose="02040503050406030204" charset="0"/>
              </a:rPr>
              <a:t>Retail Store Sales Analytics Project</a:t>
            </a:r>
            <a:r>
              <a:rPr lang="en-US" b="1" i="1" cap="none" dirty="0">
                <a:ln w="15875"/>
                <a:gradFill>
                  <a:gsLst>
                    <a:gs pos="0">
                      <a:schemeClr val="accent1">
                        <a:hueMod val="80000"/>
                      </a:schemeClr>
                    </a:gs>
                    <a:gs pos="100000">
                      <a:schemeClr val="accent1">
                        <a:alpha val="100000"/>
                      </a:schemeClr>
                    </a:gs>
                  </a:gsLst>
                  <a:lin ang="2700000" scaled="0"/>
                </a:gradFill>
                <a:effectLst/>
              </a:rPr>
              <a:t> </a:t>
            </a:r>
            <a:r>
              <a:rPr lang="en-US" b="1" i="1" cap="none" dirty="0"/>
              <a:t> </a:t>
            </a:r>
            <a:endParaRPr lang="en-IN" b="1" i="1" cap="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9147" y="6155266"/>
            <a:ext cx="7197726" cy="1405467"/>
          </a:xfrm>
        </p:spPr>
        <p:txBody>
          <a:bodyPr/>
          <a:lstStyle/>
          <a:p>
            <a:r>
              <a:rPr lang="en-US" dirty="0" err="1"/>
              <a:t>Navitha.n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33047"/>
            <a:ext cx="10131427" cy="763674"/>
          </a:xfrm>
        </p:spPr>
        <p:txBody>
          <a:bodyPr/>
          <a:lstStyle/>
          <a:p>
            <a:r>
              <a:rPr lang="en-US" b="1" i="1" dirty="0"/>
              <a:t>Project overview:</a:t>
            </a:r>
            <a:endParaRPr lang="en-US" b="1" i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7085" y="1396720"/>
            <a:ext cx="10060142" cy="2378867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2800" b="1" i="1" cap="none" dirty="0"/>
              <a:t>Objective:</a:t>
            </a:r>
            <a:endParaRPr lang="en-US" sz="2800" b="1" cap="none" dirty="0"/>
          </a:p>
          <a:p>
            <a:pPr>
              <a:lnSpc>
                <a:spcPct val="160000"/>
              </a:lnSpc>
            </a:pPr>
            <a:r>
              <a:rPr lang="en-US" cap="none" dirty="0"/>
              <a:t>		The objective of this project is to clean and analyze retail </a:t>
            </a:r>
            <a:r>
              <a:rPr lang="en-US" cap="none" dirty="0" err="1"/>
              <a:t>salaes</a:t>
            </a:r>
            <a:r>
              <a:rPr lang="en-US" cap="none" dirty="0"/>
              <a:t> data and create an interactive dashboard to identify sales trends , customer  </a:t>
            </a:r>
            <a:r>
              <a:rPr lang="en-US" cap="none" dirty="0" err="1"/>
              <a:t>prefrerence</a:t>
            </a:r>
            <a:r>
              <a:rPr lang="en-US" cap="none" dirty="0"/>
              <a:t> , and business insights.</a:t>
            </a:r>
            <a:endParaRPr lang="en-IN" cap="none" dirty="0"/>
          </a:p>
        </p:txBody>
      </p:sp>
      <p:sp>
        <p:nvSpPr>
          <p:cNvPr id="4" name="Text Box 3"/>
          <p:cNvSpPr txBox="1"/>
          <p:nvPr/>
        </p:nvSpPr>
        <p:spPr>
          <a:xfrm>
            <a:off x="685800" y="4109085"/>
            <a:ext cx="10130790" cy="24993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 i="1">
                <a:latin typeface="Cambria" panose="02040503050406030204" charset="0"/>
                <a:cs typeface="Cambria" panose="02040503050406030204" charset="0"/>
              </a:rPr>
              <a:t>Tools Used:</a:t>
            </a:r>
            <a:endParaRPr lang="en-US" sz="2800" b="1" i="1">
              <a:latin typeface="Cambria" panose="02040503050406030204" charset="0"/>
              <a:cs typeface="Cambria" panose="02040503050406030204" charset="0"/>
            </a:endParaRPr>
          </a:p>
          <a:p>
            <a:pPr marL="457200" lvl="1" indent="457200">
              <a:lnSpc>
                <a:spcPct val="130000"/>
              </a:lnSpc>
            </a:pPr>
            <a:r>
              <a:rPr lang="en-US" sz="2000"/>
              <a:t>Python(Pandas)</a:t>
            </a:r>
            <a:endParaRPr lang="en-US" sz="2000"/>
          </a:p>
          <a:p>
            <a:pPr marL="457200" lvl="1" indent="457200">
              <a:lnSpc>
                <a:spcPct val="130000"/>
              </a:lnSpc>
            </a:pPr>
            <a:r>
              <a:rPr lang="en-US" sz="2000"/>
              <a:t>Jupyter </a:t>
            </a:r>
            <a:r>
              <a:rPr lang="en-US" sz="2000"/>
              <a:t>Notebook</a:t>
            </a:r>
            <a:endParaRPr lang="en-US" sz="2000"/>
          </a:p>
          <a:p>
            <a:pPr marL="457200" lvl="1" indent="457200">
              <a:lnSpc>
                <a:spcPct val="130000"/>
              </a:lnSpc>
            </a:pPr>
            <a:r>
              <a:rPr lang="en-US" sz="2000"/>
              <a:t>Power BI</a:t>
            </a:r>
            <a:endParaRPr lang="en-US" sz="2000"/>
          </a:p>
          <a:p>
            <a:pPr marL="457200" lvl="1" indent="457200">
              <a:lnSpc>
                <a:spcPct val="130000"/>
              </a:lnSpc>
            </a:pPr>
            <a:r>
              <a:rPr lang="en-US" sz="2000"/>
              <a:t>Excel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330"/>
            <a:ext cx="10131425" cy="1022985"/>
          </a:xfrm>
        </p:spPr>
        <p:txBody>
          <a:bodyPr/>
          <a:p>
            <a:pPr fontAlgn="base"/>
            <a:r>
              <a:rPr lang="en-US" sz="4000" b="1" i="1">
                <a:latin typeface="Cambria" panose="02040503050406030204" charset="0"/>
                <a:cs typeface="Cambria" panose="02040503050406030204" charset="0"/>
              </a:rPr>
              <a:t>DAtaset Information:</a:t>
            </a:r>
            <a:endParaRPr lang="en-US" sz="4000" b="1" i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43025"/>
            <a:ext cx="10131425" cy="109283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sz="2800" b="1" i="1">
                <a:sym typeface="+mn-ea"/>
              </a:rPr>
              <a:t>Source </a:t>
            </a:r>
            <a:r>
              <a:rPr lang="en-US" sz="2800">
                <a:sym typeface="+mn-ea"/>
              </a:rPr>
              <a:t>: </a:t>
            </a:r>
            <a:r>
              <a:rPr lang="en-US" sz="2000">
                <a:sym typeface="+mn-ea"/>
              </a:rPr>
              <a:t>Retail Store sales dataset(12575 Rows and 11 Columns)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4" name="Text Box 3"/>
          <p:cNvSpPr txBox="1"/>
          <p:nvPr/>
        </p:nvSpPr>
        <p:spPr>
          <a:xfrm>
            <a:off x="685800" y="2105660"/>
            <a:ext cx="9659620" cy="453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 i="1"/>
              <a:t>Features:</a:t>
            </a:r>
            <a:endParaRPr lang="en-US" sz="2800" b="1" i="1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Transaction ID</a:t>
            </a:r>
            <a:endParaRPr lang="en-US" sz="200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Customer ID</a:t>
            </a:r>
            <a:endParaRPr lang="en-US" sz="200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Category</a:t>
            </a:r>
            <a:endParaRPr lang="en-US" sz="200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Item</a:t>
            </a:r>
            <a:endParaRPr lang="en-US" sz="200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Price Per Unit</a:t>
            </a:r>
            <a:endParaRPr lang="en-US" sz="200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Quantity</a:t>
            </a:r>
            <a:endParaRPr lang="en-US" sz="200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Total Spent</a:t>
            </a:r>
            <a:endParaRPr lang="en-US" sz="200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Payment Method </a:t>
            </a:r>
            <a:endParaRPr lang="en-US" sz="200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Location</a:t>
            </a:r>
            <a:endParaRPr lang="en-US" sz="200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Transaction  Date</a:t>
            </a:r>
            <a:endParaRPr lang="en-US" sz="2000"/>
          </a:p>
          <a:p>
            <a:pPr marL="1200150" lvl="2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/>
              <a:t>Discount Applied</a:t>
            </a:r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10131425" cy="3418205"/>
          </a:xfrm>
        </p:spPr>
        <p:txBody>
          <a:bodyPr/>
          <a:p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95325"/>
            <a:ext cx="10131425" cy="1778635"/>
          </a:xfrm>
        </p:spPr>
        <p:txBody>
          <a:bodyPr/>
          <a:p>
            <a:pPr marL="0" indent="0">
              <a:buNone/>
            </a:pPr>
            <a:r>
              <a:rPr lang="en-US" sz="2800" b="1" i="1">
                <a:latin typeface="Cambria" panose="02040503050406030204" charset="0"/>
                <a:cs typeface="Cambria" panose="02040503050406030204" charset="0"/>
              </a:rPr>
              <a:t>Issues Identify:</a:t>
            </a:r>
            <a:endParaRPr lang="en-US" sz="2800" b="1" i="1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 sz="2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 sz="28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465580" y="1329690"/>
            <a:ext cx="4105275" cy="2444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/>
              <a:t>Missing Values present,</a:t>
            </a:r>
            <a:endParaRPr lang="en-US" sz="20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/>
              <a:t>Invalid Values(0),</a:t>
            </a:r>
            <a:endParaRPr lang="en-US" sz="20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/>
              <a:t>Inconsistent data types,</a:t>
            </a:r>
            <a:endParaRPr lang="en-US" sz="20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/>
              <a:t>Need Meaningful insights</a:t>
            </a:r>
            <a:endParaRPr 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330"/>
            <a:ext cx="10131425" cy="1208405"/>
          </a:xfrm>
        </p:spPr>
        <p:txBody>
          <a:bodyPr/>
          <a:p>
            <a:r>
              <a:rPr lang="en-US" b="1" i="1">
                <a:latin typeface="Cambria" panose="02040503050406030204" charset="0"/>
                <a:cs typeface="Cambria" panose="02040503050406030204" charset="0"/>
              </a:rPr>
              <a:t>Data Cleaning:</a:t>
            </a:r>
            <a:endParaRPr lang="en-US" b="1" i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75640" y="1147445"/>
            <a:ext cx="5478780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 i="1"/>
              <a:t>1.Loaded dataset using Pandas:</a:t>
            </a:r>
            <a:endParaRPr lang="en-US" sz="2800" b="1" i="1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1821815"/>
            <a:ext cx="9148445" cy="131000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52805" y="3517900"/>
            <a:ext cx="42595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i="1"/>
              <a:t>2.Checking Null Values:</a:t>
            </a:r>
            <a:endParaRPr lang="en-US" sz="2800" b="1" i="1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745" y="4164330"/>
            <a:ext cx="2694940" cy="256857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6274435" y="3582035"/>
            <a:ext cx="4311650" cy="615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 i="1"/>
              <a:t>3.Checking Datatypes:</a:t>
            </a:r>
            <a:endParaRPr lang="en-US" sz="2800" b="1" i="1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785" y="4164330"/>
            <a:ext cx="2552700" cy="25673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834390" y="36639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i="1"/>
              <a:t>4.Remove Duplicates:</a:t>
            </a:r>
            <a:endParaRPr lang="en-US" sz="2800" b="1" i="1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705" y="1162050"/>
            <a:ext cx="3349625" cy="14427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35025" y="3006725"/>
            <a:ext cx="51854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i="1"/>
              <a:t>5.Replace Invalid Null values:</a:t>
            </a:r>
            <a:endParaRPr lang="en-US" sz="2800" b="1" i="1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780" y="3683000"/>
            <a:ext cx="6743065" cy="14382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80" y="5242560"/>
            <a:ext cx="3928110" cy="161544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6315710" y="396875"/>
            <a:ext cx="4280535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 i="1"/>
              <a:t>6.Changing  datatypes:</a:t>
            </a:r>
            <a:endParaRPr lang="en-US" sz="2800" b="1" i="1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25" y="1162050"/>
            <a:ext cx="5707380" cy="15328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62940" y="27241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4000" b="1" i="1">
                <a:latin typeface="Cambria" panose="02040503050406030204" charset="0"/>
                <a:cs typeface="Cambria" panose="02040503050406030204" charset="0"/>
              </a:rPr>
              <a:t>DASHBOARD</a:t>
            </a:r>
            <a:r>
              <a:rPr lang="en-US" sz="4000" b="1">
                <a:latin typeface="Cambria" panose="02040503050406030204" charset="0"/>
                <a:cs typeface="Cambria" panose="02040503050406030204" charset="0"/>
              </a:rPr>
              <a:t>:</a:t>
            </a:r>
            <a:endParaRPr lang="en-US" sz="4000" b="1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979170"/>
            <a:ext cx="10111740" cy="5684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878205" y="238125"/>
            <a:ext cx="39782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i="1"/>
              <a:t>KPI cards:</a:t>
            </a:r>
            <a:endParaRPr lang="en-US" sz="2800" b="1" i="1"/>
          </a:p>
        </p:txBody>
      </p:sp>
      <p:sp>
        <p:nvSpPr>
          <p:cNvPr id="5" name="Text Box 4"/>
          <p:cNvSpPr txBox="1"/>
          <p:nvPr/>
        </p:nvSpPr>
        <p:spPr>
          <a:xfrm>
            <a:off x="1183640" y="2247265"/>
            <a:ext cx="8474075" cy="3202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 b="1"/>
              <a:t>Total Revenue</a:t>
            </a:r>
            <a:r>
              <a:rPr lang="en-US" sz="2000"/>
              <a:t>     = Total Revenue reached 1.59M</a:t>
            </a:r>
            <a:endParaRPr lang="en-US" sz="2000"/>
          </a:p>
          <a:p>
            <a:endParaRPr lang="en-US" sz="2000"/>
          </a:p>
          <a:p>
            <a:r>
              <a:rPr lang="en-US" sz="2000" b="1"/>
              <a:t>Total Orders</a:t>
            </a:r>
            <a:r>
              <a:rPr lang="en-US" sz="2000"/>
              <a:t>        = The Stote Processed 13K orders successfully.</a:t>
            </a:r>
            <a:endParaRPr lang="en-US" sz="2000"/>
          </a:p>
          <a:p>
            <a:endParaRPr lang="en-US" sz="2000"/>
          </a:p>
          <a:p>
            <a:r>
              <a:rPr lang="en-US" sz="2000" b="1"/>
              <a:t>Total Items Sold</a:t>
            </a:r>
            <a:r>
              <a:rPr lang="en-US" sz="2000"/>
              <a:t> =More then 70K items were sold.</a:t>
            </a:r>
            <a:endParaRPr lang="en-US" sz="2000"/>
          </a:p>
          <a:p>
            <a:endParaRPr lang="en-US" sz="2000"/>
          </a:p>
          <a:p>
            <a:r>
              <a:rPr lang="en-US" sz="2000" b="1"/>
              <a:t>Average Transaction Values</a:t>
            </a:r>
            <a:r>
              <a:rPr lang="en-US" sz="2000"/>
              <a:t> =Customers spent $126.27 on average per transaction. </a:t>
            </a:r>
            <a:endParaRPr lang="en-US" sz="20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935" y="1092835"/>
            <a:ext cx="8130540" cy="10388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730250" y="33845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i="1"/>
              <a:t>Visuals:</a:t>
            </a:r>
            <a:endParaRPr lang="en-US" sz="3200" b="1" i="1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670" y="922020"/>
            <a:ext cx="3752215" cy="22498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35" y="3429000"/>
            <a:ext cx="3702685" cy="196151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567680" y="1013460"/>
            <a:ext cx="6438900" cy="3445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/>
              <a:t>Butchers and Electronic Household Essential category generated the highest revenue</a:t>
            </a:r>
            <a:endParaRPr lang="en-US" sz="20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/>
              <a:t>Food and Beverages also contributed significantly.</a:t>
            </a:r>
            <a:endParaRPr lang="en-US" sz="20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/>
              <a:t>Top Selling items accounted for a major share of sales.</a:t>
            </a:r>
            <a:endParaRPr lang="en-US" sz="20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200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/>
              <a:t>Category-wise analysis helps identify profitable product segments.</a:t>
            </a:r>
            <a:endParaRPr 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793750" y="562610"/>
            <a:ext cx="9472930" cy="524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 i="1"/>
              <a:t>Business Insights:</a:t>
            </a:r>
            <a:endParaRPr lang="en-US" sz="3200" b="1" i="1"/>
          </a:p>
          <a:p>
            <a:endParaRPr 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Total revenue reached at $1.59M, indicated strong overall sales performance.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Butchers category contributed the highest revenue,making it the best-performing product category.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Online sales(0.81M) slighly higher than In-store sales(0.78M),showing the impartance of digital sales chennal.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Cash was the most prefered payment method,followed closely by Credit Card and Digital Wallet.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Top-selling items generated a significant share of total revenue,highlighting key products driving business growth.</a:t>
            </a: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/>
              <a:t>Monthly revenue remained relatively stable,with a few peak periods indicating higher customer demand.</a:t>
            </a:r>
            <a:endParaRPr 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040765" y="541020"/>
            <a:ext cx="8636000" cy="4885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 i="1"/>
              <a:t>Business Recommentations:</a:t>
            </a:r>
            <a:endParaRPr lang="en-US" sz="3200" b="1" i="1"/>
          </a:p>
          <a:p>
            <a:endParaRPr lang="en-US" sz="3200" b="1" i="1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Focus more on high-performing categories.</a:t>
            </a:r>
            <a:endParaRPr lang="en-US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Increase promotions for low-performing categories.</a:t>
            </a:r>
            <a:endParaRPr lang="en-US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Strengthen online sales chaneels.</a:t>
            </a:r>
            <a:endParaRPr lang="en-US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Encourage digital payments through offers and rewards.</a:t>
            </a:r>
            <a:endParaRPr lang="en-US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/>
              <a:t>Maintain sufficiant invertory fot top-selling products.</a:t>
            </a:r>
            <a:endParaRPr 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57885" y="326390"/>
            <a:ext cx="9933940" cy="61525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 i="1"/>
              <a:t>Chellanges:</a:t>
            </a:r>
            <a:endParaRPr lang="en-US" sz="3200" b="1" i="1"/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/>
              <a:t>Handling missing and invalid values in the dataset.</a:t>
            </a:r>
            <a:endParaRPr lang="en-US" sz="2000"/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/>
              <a:t>Converting date columns into the correct format.</a:t>
            </a:r>
            <a:endParaRPr lang="en-US" sz="2000"/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/>
              <a:t>Create a  Total amount column based on discount applied column.</a:t>
            </a:r>
            <a:endParaRPr lang="en-US" sz="2000"/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/>
              <a:t>Cleaning and preparing data for analysis.</a:t>
            </a:r>
            <a:endParaRPr lang="en-US" sz="2000"/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/>
              <a:t>Choosing the right visuals to represent business insights.</a:t>
            </a:r>
            <a:endParaRPr lang="en-US" sz="2000"/>
          </a:p>
          <a:p>
            <a:pPr marL="800100" lvl="1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/>
              <a:t>Desiging a clean and interactive Power BI dashboard.</a:t>
            </a:r>
            <a:endParaRPr lang="en-US"/>
          </a:p>
          <a:p>
            <a:endParaRPr lang="en-US"/>
          </a:p>
          <a:p>
            <a:r>
              <a:rPr lang="en-US" sz="3200" b="1" i="1"/>
              <a:t>Learings:</a:t>
            </a:r>
            <a:endParaRPr lang="en-US" sz="3200" b="1" i="1"/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/>
              <a:t>Gained hands-on experience in data cleaning using Python(pandas).</a:t>
            </a:r>
            <a:endParaRPr lang="en-US" sz="2000"/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/>
              <a:t>Learned how to handle missing values and data type conversions.</a:t>
            </a:r>
            <a:endParaRPr lang="en-US" sz="2000"/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/>
              <a:t>Improved skills in data transformation and preparation.</a:t>
            </a:r>
            <a:endParaRPr lang="en-US" sz="2000"/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/>
              <a:t>Created KPIs and interactive visualizations in PowerBI.</a:t>
            </a:r>
            <a:endParaRPr lang="en-US" sz="2000"/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/>
              <a:t>Developed the ability to devire business insights from data.</a:t>
            </a:r>
            <a:endParaRPr 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96595" y="562610"/>
            <a:ext cx="9226550" cy="525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 i="1">
                <a:latin typeface="Cambria" panose="02040503050406030204" charset="0"/>
                <a:cs typeface="Cambria" panose="02040503050406030204" charset="0"/>
              </a:rPr>
              <a:t>Conclusion:</a:t>
            </a:r>
            <a:endParaRPr lang="en-US" sz="3200" b="1" i="1">
              <a:latin typeface="Cambria" panose="02040503050406030204" charset="0"/>
              <a:cs typeface="Cambria" panose="02040503050406030204" charset="0"/>
            </a:endParaRPr>
          </a:p>
          <a:p>
            <a:endParaRPr lang="en-US"/>
          </a:p>
          <a:p>
            <a:pPr indent="457200">
              <a:lnSpc>
                <a:spcPct val="120000"/>
              </a:lnSpc>
            </a:pPr>
            <a:r>
              <a:rPr lang="en-US" sz="2400"/>
              <a:t>Successfully cleaned and analyzed retail store sales dats using Python and PowerBI .The dashboard provided valuable insights into revenue, product performance ,sales channels, and customer purchasing behaviour, helping supporrt data-driven business decisions.</a:t>
            </a:r>
            <a:endParaRPr lang="en-US" sz="24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alibri-Cambria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0</TotalTime>
  <Words>3087</Words>
  <Application>WPS Presentation</Application>
  <PresentationFormat>Widescreen</PresentationFormat>
  <Paragraphs>127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Cambria</vt:lpstr>
      <vt:lpstr>Calibri</vt:lpstr>
      <vt:lpstr>Microsoft YaHei</vt:lpstr>
      <vt:lpstr>Arial Unicode MS</vt:lpstr>
      <vt:lpstr>Celestial</vt:lpstr>
      <vt:lpstr>Retail Store Sales Analytics Project  </vt:lpstr>
      <vt:lpstr>Project overview:</vt:lpstr>
      <vt:lpstr>DAtaset Information:</vt:lpstr>
      <vt:lpstr> </vt:lpstr>
      <vt:lpstr>Data Cleaning: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 kumar</dc:creator>
  <cp:lastModifiedBy>Karthik KK</cp:lastModifiedBy>
  <cp:revision>5</cp:revision>
  <dcterms:created xsi:type="dcterms:W3CDTF">2026-07-11T11:35:00Z</dcterms:created>
  <dcterms:modified xsi:type="dcterms:W3CDTF">2026-07-14T14:12:22Z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A995040F8BAD42DF8E715ECC256737C0_12</vt:lpwstr>
  </property>
  <property fmtid="{D5CDD505-2E9C-101B-9397-08002B2CF9AE}" pid="3" name="KSOProductBuildVer">
    <vt:lpwstr>1033-12.1.0.26880</vt:lpwstr>
  </property>
</Properties>
</file>